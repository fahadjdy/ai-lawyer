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474720"/>
            <a:ext cx="5943600" cy="59436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777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76809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Emoji"/>
              </a:rP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8412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LexCase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2984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5B4FC"/>
                </a:solidFill>
                <a:latin typeface="Segoe UI"/>
              </a:rPr>
              <a:t>AI-Assisted Legal Case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Run your entire law practice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from </a:t>
            </a:r>
            <a:r>
              <a:rPr sz="4000" b="1" i="0">
                <a:solidFill>
                  <a:srgbClr val="A5B4FC"/>
                </a:solidFill>
                <a:latin typeface="Segoe UI"/>
              </a:rPr>
              <a:t>one smart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605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Cases, clients, hearings, tasks and documents — with an AI assistant that reads the case and helps you prepare.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074920"/>
            <a:ext cx="2098548" cy="457200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5663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056632"/>
            <a:ext cx="20985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E8F0"/>
                </a:solidFill>
                <a:latin typeface="Segoe UI"/>
              </a:rPr>
              <a:t>AI Case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23260" y="5074920"/>
            <a:ext cx="1943100" cy="457200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4428" y="505663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0188" y="5056632"/>
            <a:ext cx="1943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E8F0"/>
                </a:solidFill>
                <a:latin typeface="Segoe UI"/>
              </a:rPr>
              <a:t>Cross-exam prep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5074920"/>
            <a:ext cx="1943100" cy="457200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505663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5056632"/>
            <a:ext cx="1943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E8F0"/>
                </a:solidFill>
                <a:latin typeface="Segoe UI"/>
              </a:rPr>
              <a:t>Smart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6660" y="5074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7828" y="505663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588" y="505663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E8F0"/>
                </a:solidFill>
                <a:latin typeface="Segoe UI"/>
              </a:rPr>
              <a:t>All-in-one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6035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Built for Indian lawyers &amp; law firms  ·  A guided product tour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46E5"/>
                </a:solidFill>
                <a:latin typeface="Segoe UI"/>
              </a:rPr>
              <a:t>WHAT IS LEXCASE?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Segoe UI"/>
              </a:rPr>
              <a:t>One place to manage every case —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LexCase keeps a law firm's clients, cases, hearings, tasks, documents and team together in a single, easy workspace — and adds an AI assistant that helps lawyers prepare faster.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45429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345429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08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Emoji"/>
              </a:rPr>
              <a:t>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Everything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No more scattered files, sheets and WhatsApp notes. The whole matter lives in one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697480"/>
            <a:ext cx="345429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2697480"/>
            <a:ext cx="3454298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3018" y="301752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3018" y="3008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3749039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AI that helps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018" y="41605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It reads the case and drafts summaries, suggests the right legal sections and prepares cross-examination questions.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2697480"/>
            <a:ext cx="345429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2697480"/>
            <a:ext cx="345429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71636" y="301752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1636" y="30083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3749039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Safe &amp; 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4160520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Each firm's data is fully separated, with clear roles deciding who can see and do what.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252214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25221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Segoe U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70448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6543" y="5257800"/>
            <a:ext cx="252214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6543" y="5394960"/>
            <a:ext cx="25221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6543" y="5870448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AI assistant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5257800"/>
            <a:ext cx="252214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3007" y="5394960"/>
            <a:ext cx="25221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870448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firm roles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9471" y="5257800"/>
            <a:ext cx="2522143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9471" y="5394960"/>
            <a:ext cx="25221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Segoe UI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9471" y="5870448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data isolation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E123C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Segoe UI"/>
              </a:rPr>
              <a:t>Running a law practice is a juggling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21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12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E123C"/>
                </a:solidFill>
                <a:latin typeface="Segoe UI Emoji"/>
              </a:rPr>
              <a:t>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84832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Files everywhere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Case papers spread across folders, email and 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07792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3108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0998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E123C"/>
                </a:solidFill>
                <a:latin typeface="Segoe UI Emoji"/>
              </a:rPr>
              <a:t>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72384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Missed dates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Hearing dates and deadlines easy to forget.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95344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409651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87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E123C"/>
                </a:solidFill>
                <a:latin typeface="Segoe UI Emoj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59935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Repeated work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The same summaries and notices typed again and again.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8289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508406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074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E123C"/>
                </a:solidFill>
                <a:latin typeface="Segoe UI Emoji"/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4748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Hard to see status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No quick way to know how a case is really doing.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9202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22402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23113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F46E5"/>
                </a:solidFill>
                <a:latin typeface="Segoe UI Emoj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63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LexCase brings it all together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4FC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One record per case — papers, dates, tasks,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4F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114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Reminders and a calendar so nothing slips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5262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4FC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526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Ready-made templates instead of retyping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37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4FC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 clear score and dashboard for instant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49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5B4FC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349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An AI assistant that does the heavy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46E5"/>
                </a:solidFill>
                <a:latin typeface="Segoe UI"/>
              </a:rPr>
              <a:t>EVERYTHING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Segoe UI"/>
              </a:rPr>
              <a:t>The complete workspace,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Simple menus group every tool a firm needs. Here's the full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22143" cy="393192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22143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5221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78892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78892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6543" y="2148840"/>
            <a:ext cx="2522143" cy="393192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6543" y="2148840"/>
            <a:ext cx="2522143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6543" y="2194560"/>
            <a:ext cx="25221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MATTERS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9423" y="278892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47439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7439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3783" y="278892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9423" y="356616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7439" y="3712463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7439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3783" y="356616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Clients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9423" y="434340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47439" y="44897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7439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3783" y="434340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Hearings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9423" y="512064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47439" y="526694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7439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3783" y="512064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Tasks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2148840"/>
            <a:ext cx="2522143" cy="393192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2148840"/>
            <a:ext cx="2522143" cy="457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3007" y="2194560"/>
            <a:ext cx="25221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5887" y="278892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43903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3903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0247" y="278892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Documents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5887" y="356616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43903" y="3712463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3903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0247" y="356616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Evidence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5887" y="434340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43903" y="44897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3903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0247" y="434340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Legal Library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5887" y="512064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43903" y="526694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3903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0247" y="512064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Legal Notebook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29471" y="2148840"/>
            <a:ext cx="2522143" cy="3931920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29471" y="2148840"/>
            <a:ext cx="2522143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9471" y="2194560"/>
            <a:ext cx="25221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FIRM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12351" y="278892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40367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0367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6711" y="278892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Team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12351" y="356616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40367" y="3712463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0367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6711" y="356616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Roles &amp; Rights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12351" y="4343400"/>
            <a:ext cx="2156383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40367" y="44897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40367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6711" y="4343400"/>
            <a:ext cx="15620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Activity Log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Your daily command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See the health of the whole practice the moment you log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 live dashboard of your whole 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The moment you log in, see the numbers that matter — without opening a single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Key numbers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active cases, clients, open tasks and this week's hearings.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Trends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6-month view of cases and hearings at a glance.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Win rate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how many matters the firm is winning.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Workload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see how work is shared across each lawyer.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lexcase.app/dashboard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16168" y="1618487"/>
            <a:ext cx="1268729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25896" y="1746503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5896" y="17373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5896" y="2093976"/>
            <a:ext cx="1268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386584"/>
            <a:ext cx="1268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Active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4625" y="1618487"/>
            <a:ext cx="1268729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04353" y="1746503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4353" y="17373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4353" y="2093976"/>
            <a:ext cx="1268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126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3498" y="2386584"/>
            <a:ext cx="1268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Clients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3084" y="1618487"/>
            <a:ext cx="1268729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82811" y="1746503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2811" y="17373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2811" y="2093976"/>
            <a:ext cx="1268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1956" y="2386584"/>
            <a:ext cx="1268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Open tasks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1542" y="1618487"/>
            <a:ext cx="1268729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161269" y="1746503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1269" y="17373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1269" y="2093976"/>
            <a:ext cx="1268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0414" y="2386584"/>
            <a:ext cx="1268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This week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16168" y="2761487"/>
            <a:ext cx="3242462" cy="2615183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59" y="2889503"/>
            <a:ext cx="32424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Cases &amp; hearings — last 6 months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142231"/>
            <a:ext cx="143012" cy="82296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64224" y="4389119"/>
            <a:ext cx="143012" cy="576072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72986" y="3776471"/>
            <a:ext cx="143012" cy="118872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28434" y="4133087"/>
            <a:ext cx="143012" cy="832103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137196" y="4005071"/>
            <a:ext cx="143012" cy="96012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292644" y="4293107"/>
            <a:ext cx="143012" cy="672084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601407" y="3410711"/>
            <a:ext cx="143012" cy="155448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756855" y="3877055"/>
            <a:ext cx="143012" cy="1088136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65617" y="3639311"/>
            <a:ext cx="143012" cy="132588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21065" y="4037075"/>
            <a:ext cx="143012" cy="928115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529828" y="3136391"/>
            <a:ext cx="143012" cy="1828800"/>
          </a:xfrm>
          <a:prstGeom prst="roundRect">
            <a:avLst>
              <a:gd name="adj" fmla="val 25575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685276" y="3685031"/>
            <a:ext cx="143012" cy="1280160"/>
          </a:xfrm>
          <a:prstGeom prst="roundRect">
            <a:avLst>
              <a:gd name="adj" fmla="val 25575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6099048" y="4965191"/>
            <a:ext cx="2876702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9323222" y="2761487"/>
            <a:ext cx="1997049" cy="2615183"/>
          </a:xfrm>
          <a:prstGeom prst="roundRect">
            <a:avLst>
              <a:gd name="adj" fmla="val 457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9526" y="2889503"/>
            <a:ext cx="19970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Win rate</a:t>
            </a:r>
          </a:p>
        </p:txBody>
      </p:sp>
      <p:sp>
        <p:nvSpPr>
          <p:cNvPr id="69" name="Donut 68"/>
          <p:cNvSpPr/>
          <p:nvPr/>
        </p:nvSpPr>
        <p:spPr>
          <a:xfrm>
            <a:off x="9551822" y="3218687"/>
            <a:ext cx="1539849" cy="1539849"/>
          </a:xfrm>
          <a:prstGeom prst="donut">
            <a:avLst>
              <a:gd name="adj" fmla="val 2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3222" y="3732580"/>
            <a:ext cx="199704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Segoe UI"/>
              </a:rPr>
              <a:t>68%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3222" y="4992623"/>
            <a:ext cx="19970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cases won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Meet your AI legal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It reads the case and does the heavy preparation with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AI CASE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AI that reads the case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Feed it the case facts and it writes a clean summary and points you to the likely legal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Plain summary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3–5 sentences plus the key facts,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Right sections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suggests the IPC / BNS sections that likely apply.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Smart priority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recommends how urgent the matter 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Always safe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every suggestion is flagged for a lawyer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lexcase.app/cases/ai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16168" y="1618487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160934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Emoji"/>
              </a:rPr>
              <a:t>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163677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AI Case Assistant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85832" y="1645919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1636775"/>
            <a:ext cx="10607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Generate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16168" y="2185415"/>
            <a:ext cx="5404103" cy="1234440"/>
          </a:xfrm>
          <a:prstGeom prst="roundRect">
            <a:avLst>
              <a:gd name="adj" fmla="val 5925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62472" y="2295144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5CF6"/>
                </a:solidFill>
                <a:latin typeface="Segoe UI"/>
              </a:rPr>
              <a:t>Case summary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62472" y="2606039"/>
            <a:ext cx="5038343" cy="109728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62472" y="2825496"/>
            <a:ext cx="4764023" cy="109728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62472" y="3044951"/>
            <a:ext cx="4215383" cy="109728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16168" y="3602735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Suggested sections (IPC / BNS)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16168" y="3913631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16168" y="3904487"/>
            <a:ext cx="8092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IPC 420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35140" y="3913631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5140" y="3904487"/>
            <a:ext cx="8092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BNS 318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54112" y="3913631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2" y="3904487"/>
            <a:ext cx="8092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IPC 406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73084" y="3913631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73084" y="3904487"/>
            <a:ext cx="8092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BNS 316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16168" y="4471416"/>
            <a:ext cx="5404103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62472" y="45902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47857"/>
                </a:solidFill>
                <a:latin typeface="Segoe UI"/>
              </a:rPr>
              <a:t>Suggested priority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62472" y="488289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62472" y="48737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6911" y="459028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Key facts extracted · disclaimer attached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3F5E"/>
                </a:solidFill>
                <a:latin typeface="Segoe UI"/>
              </a:rPr>
              <a:t>CROSS-EXAMINATION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Walk in ready for the hearing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LexCase predicts the tough questions — from both the opposing counsel and the judge — before you reach court.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3F5E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Opponent's angle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questions made to attack credibility and find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3F5E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Judge's angle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questions to test the facts and the legal basis.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3F5E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Categorised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each question is tagged (credibility, timeline, …).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3F5E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Prep strategy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short tip on how to answer each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lexcase.app/cases/cross-exam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16168" y="1618487"/>
            <a:ext cx="2647187" cy="384048"/>
          </a:xfrm>
          <a:prstGeom prst="roundRect">
            <a:avLst>
              <a:gd name="adj" fmla="val 19047"/>
            </a:avLst>
          </a:prstGeom>
          <a:solidFill>
            <a:srgbClr val="FFF1F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1618487"/>
            <a:ext cx="26471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123C"/>
                </a:solidFill>
                <a:latin typeface="Segoe UI Emoji"/>
              </a:rPr>
              <a:t>⚔  Opponent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73083" y="1618487"/>
            <a:ext cx="2647187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3083" y="1618487"/>
            <a:ext cx="264718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Segoe UI Emoji"/>
              </a:rPr>
              <a:t>⚖  Judge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16168" y="2167127"/>
            <a:ext cx="5404103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62472" y="2285999"/>
            <a:ext cx="1013383" cy="219456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62472" y="2276856"/>
            <a:ext cx="101338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E123C"/>
                </a:solidFill>
                <a:latin typeface="Segoe UI"/>
              </a:rPr>
              <a:t>Credibility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2532887"/>
            <a:ext cx="5129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Why was the FIR delayed by 11 days?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62472" y="2770632"/>
            <a:ext cx="5129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Prep strategy: keep the timeline and documents ready.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6168" y="3118103"/>
            <a:ext cx="5404103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62472" y="3236975"/>
            <a:ext cx="791870" cy="219456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3227832"/>
            <a:ext cx="79187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E123C"/>
                </a:solidFill>
                <a:latin typeface="Segoe UI"/>
              </a:rPr>
              <a:t>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2472" y="3483863"/>
            <a:ext cx="5129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Can you account for the gap in the evidence chain?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2472" y="3721607"/>
            <a:ext cx="5129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Prep strategy: keep the timeline and documents ready.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16168" y="4069079"/>
            <a:ext cx="5404103" cy="84124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62472" y="4187951"/>
            <a:ext cx="1013383" cy="219456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62472" y="4178807"/>
            <a:ext cx="101338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E123C"/>
                </a:solidFill>
                <a:latin typeface="Segoe UI"/>
              </a:rPr>
              <a:t>Documentary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62472" y="4434840"/>
            <a:ext cx="5129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Is there proof the payment was actually made?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62472" y="4672583"/>
            <a:ext cx="5129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Prep strategy: keep the timeline and documents ready.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SMART AI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Instant answers that stay 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AI results are saved with each case, so revisiting is instant — and LexCase tells you when they need a refresh.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Instant on return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saved results open immediately, no waiting.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No wasted effort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it won't re-run when nothing has changed.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Knows when stale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spots when the case has changed since last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One-click refresh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clear ‘Regenerate' button updates everything.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16168" y="1618487"/>
            <a:ext cx="5404103" cy="841248"/>
          </a:xfrm>
          <a:prstGeom prst="roundRect">
            <a:avLst>
              <a:gd name="adj" fmla="val 8695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62472" y="1819655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62472" y="181051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755647"/>
            <a:ext cx="3026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This case has changed since the AI notes were made.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egoe UI"/>
              </a:rPr>
              <a:t>Regenerate to refresh the analysis.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2951" y="1874519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2951" y="1865376"/>
            <a:ext cx="12527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Regenerate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16168" y="2715768"/>
            <a:ext cx="5404103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62472" y="288036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28712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4536" y="2843784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47857"/>
                </a:solidFill>
                <a:latin typeface="Segoe UI"/>
              </a:rPr>
              <a:t>Loaded instantly from saved results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047857"/>
                </a:solidFill>
                <a:latin typeface="Segoe UI"/>
              </a:rPr>
              <a:t>No waiting, no re-charging when nothing changed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16168" y="3675887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How it stays fresh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16168" y="4005072"/>
            <a:ext cx="1618487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16168" y="4005072"/>
            <a:ext cx="161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Case facts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4005072"/>
            <a:ext cx="310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08975" y="4005072"/>
            <a:ext cx="1618487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8975" y="4005072"/>
            <a:ext cx="161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46E5"/>
                </a:solidFill>
                <a:latin typeface="Segoe UI"/>
              </a:rPr>
              <a:t>+ timeline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9176" y="4005072"/>
            <a:ext cx="310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01784" y="4005072"/>
            <a:ext cx="1618487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01784" y="4005072"/>
            <a:ext cx="16184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5CF6"/>
                </a:solidFill>
                <a:latin typeface="Segoe UI"/>
              </a:rPr>
              <a:t>= fingerprint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16168" y="4645152"/>
            <a:ext cx="5404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If the fingerprint changes, LexCase asks you to refresh.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Manage every matter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From the first complaint to the final judgment — all in one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46E5"/>
                </a:solidFill>
                <a:latin typeface="Segoe UI"/>
              </a:rPr>
              <a:t>CASE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Every case, fully organised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Each case ties together the client, lawyers, hearings, tasks, documents and notes — in one tidy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One record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client, court, team and papers all in one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Search &amp; filter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find any matter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Status at a glance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clear badges for stage, type and priority.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Safe archive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archive and restore instead of losing anything.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94392" y="1600199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94392" y="1591055"/>
            <a:ext cx="12527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+ New case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16168" y="2002536"/>
            <a:ext cx="5404103" cy="310896"/>
          </a:xfrm>
          <a:prstGeom prst="roundRect">
            <a:avLst>
              <a:gd name="adj" fmla="val 29411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3" y="1984248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 Emoji"/>
              </a:rPr>
              <a:t>🔍  Search cases…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2472" y="248716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9367" y="24871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7" y="248716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16168" y="2779775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62472" y="2871215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State vs. R. Kumar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Trial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9367" y="2779775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Criminal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30967" y="2944368"/>
            <a:ext cx="644194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30967" y="2935224"/>
            <a:ext cx="64419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Active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6168" y="3419855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3511295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Mehta Property Dispute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Hearing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9367" y="3419855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Civil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30967" y="3584447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30967" y="3575303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Pending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16168" y="4059935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62472" y="4151375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Sharma vs. Sharma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Final args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59367" y="4059935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Family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30967" y="4224527"/>
            <a:ext cx="644194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30967" y="4215383"/>
            <a:ext cx="64419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Active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16168" y="4700016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4791455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ACME Contract Breach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Filed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7" y="4700016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Corporate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30967" y="4864607"/>
            <a:ext cx="422681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30967" y="4855464"/>
            <a:ext cx="42268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New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CASE TRACKING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Follow a case, stage by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Track the matter as it moves — FIR to investigation, charges, trial and judgment — with what changed at each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Full journey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every stage of the case 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Sections snapshot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see which legal sections applied at each stage.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Highlights changes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new sections added are clearly marked.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AI help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it can even suggest sections for a new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lexcase.app/cases/timeline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Case tracking timeline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36207" y="2167127"/>
            <a:ext cx="0" cy="2798065"/>
          </a:xfrm>
          <a:prstGeom prst="bentConnector3">
            <a:avLst/>
          </a:prstGeom>
          <a:ln w="254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35623" y="2075687"/>
            <a:ext cx="201168" cy="201168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7" y="2020823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FIR / Complaint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Sections noted</a:t>
            </a:r>
          </a:p>
        </p:txBody>
      </p:sp>
      <p:sp>
        <p:nvSpPr>
          <p:cNvPr id="36" name="Oval 35"/>
          <p:cNvSpPr/>
          <p:nvPr/>
        </p:nvSpPr>
        <p:spPr>
          <a:xfrm>
            <a:off x="6135623" y="2752344"/>
            <a:ext cx="201168" cy="20116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7" y="2697479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Investigation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+ IPC 406 added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5792" y="2752344"/>
            <a:ext cx="1104595" cy="21945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2743200"/>
            <a:ext cx="110459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45309"/>
                </a:solidFill>
                <a:latin typeface="Segoe UI"/>
              </a:rPr>
              <a:t>section added</a:t>
            </a:r>
          </a:p>
        </p:txBody>
      </p:sp>
      <p:sp>
        <p:nvSpPr>
          <p:cNvPr id="40" name="Oval 39"/>
          <p:cNvSpPr/>
          <p:nvPr/>
        </p:nvSpPr>
        <p:spPr>
          <a:xfrm>
            <a:off x="6135623" y="3428999"/>
            <a:ext cx="201168" cy="201168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7" y="3374135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Charge Sheet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Sections confirmed</a:t>
            </a:r>
          </a:p>
        </p:txBody>
      </p:sp>
      <p:sp>
        <p:nvSpPr>
          <p:cNvPr id="42" name="Oval 41"/>
          <p:cNvSpPr/>
          <p:nvPr/>
        </p:nvSpPr>
        <p:spPr>
          <a:xfrm>
            <a:off x="6135623" y="4105655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7" y="4050791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Trial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Evidence recorded</a:t>
            </a:r>
          </a:p>
        </p:txBody>
      </p:sp>
      <p:sp>
        <p:nvSpPr>
          <p:cNvPr id="44" name="Oval 43"/>
          <p:cNvSpPr/>
          <p:nvPr/>
        </p:nvSpPr>
        <p:spPr>
          <a:xfrm>
            <a:off x="6135623" y="4782312"/>
            <a:ext cx="201168" cy="201168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7" y="4727448"/>
            <a:ext cx="44897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Judgment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Outcome logged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FAVORABILITY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How strong is the case? One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 simple 0–100 gauge shows, at a glance, how strongly the matter is leaning in your favour.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Instant read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no spreadsheets, just one clear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Visual gauge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colour-coded dial anyone can understand.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Smarter decisions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spot strong and weak matters quickly.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Client-friendly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easy to explain progress to clients.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lexcase.app/cases/show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Case favorability</a:t>
            </a:r>
          </a:p>
        </p:txBody>
      </p:sp>
      <p:sp>
        <p:nvSpPr>
          <p:cNvPr id="33" name="Donut 32"/>
          <p:cNvSpPr/>
          <p:nvPr/>
        </p:nvSpPr>
        <p:spPr>
          <a:xfrm>
            <a:off x="7607808" y="2121408"/>
            <a:ext cx="2020823" cy="2020823"/>
          </a:xfrm>
          <a:prstGeom prst="donu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8" y="2720339"/>
            <a:ext cx="202082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F172A"/>
                </a:solidFill>
                <a:latin typeface="Segoe UI"/>
              </a:rPr>
              <a:t>72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out of 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9540" y="4306823"/>
            <a:ext cx="2199132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9540" y="4297679"/>
            <a:ext cx="21991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857"/>
                </a:solidFill>
                <a:latin typeface="Segoe UI"/>
              </a:rPr>
              <a:t>Strongly in your favour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8" y="4736592"/>
            <a:ext cx="5404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A simple score that shows, at a glance, how strong the matter looks.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Clients, dates and to-dos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Keep people, hearings and daily work moving without dropping a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Every client, neatly on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Keep full client profiles — individuals or companies — linked straight to their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Complete profiles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contact details and type in one 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Linked to cases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jump from a client to all their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Quick add &amp; edit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simple forms, no clutter.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Easy to find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search clients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lexcase.app/clients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Clients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02951" y="1600199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1" y="1591055"/>
            <a:ext cx="14447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+ New client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16168" y="2121408"/>
            <a:ext cx="540410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62472" y="2267712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62472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6" b="1" i="0">
                <a:solidFill>
                  <a:srgbClr val="FFFFFF"/>
                </a:solidFill>
                <a:latin typeface="Segoe UI"/>
              </a:rPr>
              <a:t>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22494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Rahul Kumar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Individual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85832" y="2340863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5832" y="2331720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5569"/>
                </a:solidFill>
                <a:latin typeface="Segoe UI"/>
              </a:rPr>
              <a:t>3 cases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6168" y="2871215"/>
            <a:ext cx="540410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62472" y="301752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3008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6" b="1" i="0">
                <a:solidFill>
                  <a:srgbClr val="FFFFFF"/>
                </a:solidFill>
                <a:latin typeface="Segoe UI"/>
              </a:rPr>
              <a:t>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4536" y="29992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ACME Pvt. Ltd.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Company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85832" y="3090672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85832" y="3081528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5569"/>
                </a:solidFill>
                <a:latin typeface="Segoe UI"/>
              </a:rPr>
              <a:t>2 cases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16168" y="3621023"/>
            <a:ext cx="540410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62472" y="3767327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62472" y="375818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6" b="1" i="0">
                <a:solidFill>
                  <a:srgbClr val="FFFFFF"/>
                </a:solidFill>
                <a:latin typeface="Segoe UI"/>
              </a:rPr>
              <a:t>PM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374903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Priya Mehta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Individual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85832" y="3840479"/>
            <a:ext cx="64419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85832" y="3831335"/>
            <a:ext cx="64419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5569"/>
                </a:solidFill>
                <a:latin typeface="Segoe UI"/>
              </a:rPr>
              <a:t>1 case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16168" y="4370831"/>
            <a:ext cx="540410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62472" y="451713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62472" y="45079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6" b="1" i="0">
                <a:solidFill>
                  <a:srgbClr val="FFFFFF"/>
                </a:solidFill>
                <a:latin typeface="Segoe UI"/>
              </a:rPr>
              <a:t>SF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4536" y="449884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Sharma Family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Individual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85832" y="4590288"/>
            <a:ext cx="644194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85832" y="4581144"/>
            <a:ext cx="64419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75569"/>
                </a:solidFill>
                <a:latin typeface="Segoe UI"/>
              </a:rPr>
              <a:t>1 case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HEARINGS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Never miss a court date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 clean calendar and agenda of every hearing, with purpose, judge and outcome tracked.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Calendar view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see all upcoming dates at a glance.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Full details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purpose, judge and status for each hearing.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Outcome tracking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record what happened after each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Stay ahead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an agenda of what's coming up next.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lexcase.app/hearings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Hearings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7615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9063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0511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1958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3406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4854" y="2075687"/>
            <a:ext cx="401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6168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7615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9063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0511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1958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23406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4854" y="2350007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6168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7615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55639" y="2825495"/>
            <a:ext cx="328295" cy="420624"/>
          </a:xfrm>
          <a:prstGeom prst="roundRect">
            <a:avLst>
              <a:gd name="adj" fmla="val 2228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19063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0511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1958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3406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4854" y="2825495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6168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7615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55639" y="3300983"/>
            <a:ext cx="328295" cy="420624"/>
          </a:xfrm>
          <a:prstGeom prst="roundRect">
            <a:avLst>
              <a:gd name="adj" fmla="val 2228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19063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20511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1958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23406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4854" y="3300983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16168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54191" y="3776471"/>
            <a:ext cx="328295" cy="420624"/>
          </a:xfrm>
          <a:prstGeom prst="roundRect">
            <a:avLst>
              <a:gd name="adj" fmla="val 2228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17615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19063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20511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21958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23406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4854" y="3776471"/>
            <a:ext cx="40144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0622" y="2075687"/>
            <a:ext cx="231964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Upcoming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00622" y="2386584"/>
            <a:ext cx="23196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11035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10350" y="2514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77278" y="2505456"/>
            <a:ext cx="154240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State vs. Kumar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Bail hearing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00622" y="3172968"/>
            <a:ext cx="23196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110350" y="3300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10350" y="33009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77278" y="3291839"/>
            <a:ext cx="154240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Mehta Dispute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Arguments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00622" y="3959352"/>
            <a:ext cx="23196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110350" y="4087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10350" y="4087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77278" y="4078224"/>
            <a:ext cx="154240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ACME Breach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First hearing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 clear to-do board for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Organise work on a simple board — drag tasks across columns, set due dates and track who's doing what.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Visual board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To-do, In-progress and Done at a glance.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Drag to update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move a task as work progresses.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Due dates &amp; priority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know what's urgent.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Full history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see how each task moved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lexcase.app/tasks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Task 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2075687"/>
            <a:ext cx="1679447" cy="3300983"/>
          </a:xfrm>
          <a:prstGeom prst="roundRect">
            <a:avLst>
              <a:gd name="adj" fmla="val 435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44183" y="2221991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2148839"/>
            <a:ext cx="16794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To 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25896" y="2532887"/>
            <a:ext cx="1459991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25896" y="2596895"/>
            <a:ext cx="45720" cy="53035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624327"/>
            <a:ext cx="129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</a:rPr>
              <a:t>Draft bail plea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</a:rPr>
              <a:t>Due in 2 days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25896" y="3282695"/>
            <a:ext cx="1459991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25896" y="3346703"/>
            <a:ext cx="4572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374135"/>
            <a:ext cx="129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</a:rPr>
              <a:t>Call client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</a:rPr>
              <a:t>Due in 2 days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8495" y="2075687"/>
            <a:ext cx="1679447" cy="3300983"/>
          </a:xfrm>
          <a:prstGeom prst="roundRect">
            <a:avLst>
              <a:gd name="adj" fmla="val 435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06512" y="2221991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89391" y="2148839"/>
            <a:ext cx="16794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In progress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8223" y="2532887"/>
            <a:ext cx="1459991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88223" y="2596895"/>
            <a:ext cx="4572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4527" y="2624327"/>
            <a:ext cx="129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</a:rPr>
              <a:t>Collect evidence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</a:rPr>
              <a:t>Due in 2 days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88223" y="3282695"/>
            <a:ext cx="1459991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88223" y="3346703"/>
            <a:ext cx="45720" cy="5303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34527" y="3374135"/>
            <a:ext cx="129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</a:rPr>
              <a:t>File reply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</a:rPr>
              <a:t>Due in 2 days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0824" y="2075687"/>
            <a:ext cx="1679447" cy="3300983"/>
          </a:xfrm>
          <a:prstGeom prst="roundRect">
            <a:avLst>
              <a:gd name="adj" fmla="val 435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68840" y="2221991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51720" y="2148839"/>
            <a:ext cx="16794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Done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50551" y="2532887"/>
            <a:ext cx="1459991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50551" y="2596895"/>
            <a:ext cx="4572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96856" y="2624327"/>
            <a:ext cx="1295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</a:rPr>
              <a:t>Notice served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</a:rPr>
              <a:t>Due in 2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All your paperwork, sorted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Documents, evidence and ready-made legal templates — organised and reusable.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DOCUMENTS &amp;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Papers and proof, properly 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Keep documents organised with versions, and log evidence with its type and chain-of-custody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Versioned files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always know which draft is the latest.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Tidy folders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documents organised per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Evidence locker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log each item with its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Chain of custody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track an item's status from intake to court.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lexcase.app/documents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Documents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2029967"/>
            <a:ext cx="5404103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25896" y="2130551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21214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Emoji"/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2029967"/>
            <a:ext cx="3657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Vakalatnama.pdf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43032" y="2176272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3032" y="2167128"/>
            <a:ext cx="365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v3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16168" y="2578608"/>
            <a:ext cx="5404103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25896" y="2679191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25896" y="26700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Emoji"/>
              </a:rP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2578608"/>
            <a:ext cx="3657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Bail application.docx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43032" y="2724912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43032" y="2715768"/>
            <a:ext cx="365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v2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6168" y="3127248"/>
            <a:ext cx="5404103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25896" y="32278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25896" y="3218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Emoji"/>
              </a:rPr>
              <a:t>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7" y="3127248"/>
            <a:ext cx="3657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Evidence list.pdf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43032" y="3273552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43032" y="3264408"/>
            <a:ext cx="365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16168" y="37673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Evidence locker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16168" y="4151375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25896" y="4270247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25896" y="426110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Emoji"/>
              </a:rPr>
              <a:t>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83096" y="426110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Bank statement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Documentary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77272" y="4315967"/>
            <a:ext cx="757123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77272" y="4306823"/>
            <a:ext cx="75712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Segoe UI"/>
              </a:rPr>
              <a:t>Verified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16168" y="4791455"/>
            <a:ext cx="5404103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25896" y="4910327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25896" y="490118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Emoji"/>
              </a:rPr>
              <a:t>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3096" y="490118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CCTV footage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Electronic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77272" y="4956047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77272" y="4946903"/>
            <a:ext cx="89611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45309"/>
                </a:solidFill>
                <a:latin typeface="Segoe UI"/>
              </a:rPr>
              <a:t>In custody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46E5"/>
                </a:solidFill>
                <a:latin typeface="Segoe UI"/>
              </a:rPr>
              <a:t>LEGAL LIBRARY &amp;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Templates and law, ready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 library of editable document templates, plus a quick-reference notebook of Indian statutes and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Ready templates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bail pleas, notices, agreements and more.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Edit &amp; reuse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duplicate and customise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Printable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produce clean documents fast.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Law at hand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look up sections without leaving the app.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lexcase.app/templates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Legal Library — ready-made templates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2039112"/>
            <a:ext cx="261061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25896" y="218541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217627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2157984"/>
            <a:ext cx="19705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Bail Application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Criminal · editable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09659" y="2039112"/>
            <a:ext cx="261061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19387" y="218541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19387" y="217627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6587" y="2157984"/>
            <a:ext cx="19705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Vakalatnama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General · editable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6168" y="2788920"/>
            <a:ext cx="261061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25896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25896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2907791"/>
            <a:ext cx="19705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Legal Notice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Civil · editable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09659" y="2788920"/>
            <a:ext cx="261061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19387" y="2935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19387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Emoji"/>
              </a:rPr>
              <a:t>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6587" y="2907791"/>
            <a:ext cx="19705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Rent Agreement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Property · editable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6168" y="37307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Legal Notebook — quick law reference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16168" y="4114800"/>
            <a:ext cx="5404103" cy="384048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25896" y="4187952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25896" y="4178808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IPC 420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7" y="411480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Cheating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16168" y="4572000"/>
            <a:ext cx="5404103" cy="384048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025896" y="4645152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25896" y="4636008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BNS 318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7" y="457200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Cheating (new code)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16168" y="5029200"/>
            <a:ext cx="5404103" cy="384048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25896" y="5102352"/>
            <a:ext cx="718032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25896" y="5093208"/>
            <a:ext cx="7180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Segoe UI"/>
              </a:rPr>
              <a:t>IPC 302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96327" y="502920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Murder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QUICK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Find anything in one keystroke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Press ⌘K and search the whole firm — cases, clients, hearings and tasks — as you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One search box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covers every part of the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As-you-type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results appear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Neatly grouped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by cases, clients, hearings and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Jump anywhere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open the right record in a click.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  ·  press ⌘K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90488" y="1728215"/>
            <a:ext cx="4855464" cy="3630167"/>
          </a:xfrm>
          <a:prstGeom prst="roundRect">
            <a:avLst>
              <a:gd name="adj" fmla="val 251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64807" y="1938527"/>
            <a:ext cx="4306823" cy="3300983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29399" y="2084831"/>
            <a:ext cx="3977639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3" y="2066543"/>
            <a:ext cx="430682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Segoe UI Emoji"/>
              </a:rPr>
              <a:t>🔍   kumar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21823" y="2167127"/>
            <a:ext cx="435711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21823" y="2157984"/>
            <a:ext cx="43571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 Emoji"/>
              </a:rPr>
              <a:t>⌘ 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975" y="2651759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399" y="2889503"/>
            <a:ext cx="3977639" cy="347472"/>
          </a:xfrm>
          <a:prstGeom prst="roundRect">
            <a:avLst>
              <a:gd name="adj" fmla="val 1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75703" y="2889503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Segoe UI Emoji"/>
              </a:rPr>
              <a:t>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1464" y="2889503"/>
            <a:ext cx="33924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State vs. R. Kumar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399" y="3273551"/>
            <a:ext cx="3977639" cy="347472"/>
          </a:xfrm>
          <a:prstGeom prst="roundRect">
            <a:avLst>
              <a:gd name="adj" fmla="val 1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75703" y="3273551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Segoe UI Emoji"/>
              </a:rPr>
              <a:t>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1464" y="3273551"/>
            <a:ext cx="33924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Kumar bail matter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5975" y="3703319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CLIENTS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399" y="3941063"/>
            <a:ext cx="3977639" cy="347472"/>
          </a:xfrm>
          <a:prstGeom prst="roundRect">
            <a:avLst>
              <a:gd name="adj" fmla="val 1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5703" y="3941063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Segoe UI Emoji"/>
              </a:rP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41464" y="3941063"/>
            <a:ext cx="33924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Rahul Kumar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5975" y="4370831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4A3B8"/>
                </a:solidFill>
                <a:latin typeface="Segoe UI"/>
              </a:rPr>
              <a:t>HEARINGS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29399" y="4608575"/>
            <a:ext cx="3977639" cy="347472"/>
          </a:xfrm>
          <a:prstGeom prst="roundRect">
            <a:avLst>
              <a:gd name="adj" fmla="val 1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5703" y="4608575"/>
            <a:ext cx="365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Segoe UI Emoji"/>
              </a:rPr>
              <a:t>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41464" y="4608575"/>
            <a:ext cx="33924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Kumar — bail hearing, Jun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Run the firm,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89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</a:rPr>
              <a:t>The right people, the right access, and a full record of who did what.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TEAM &amp; 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The right access for every 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Add your team and give each person a role — from Firm Owner to Clerk — that decides exactly what they can see and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Five clear roles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Owner, Partner, Associate, Paralegal, Clerk.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Fine-grained rights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control each ability per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Add &amp; manage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invite, edit or remove members easily.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Right-sized access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people only see what they should.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lexcase.app/team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Team &amp; roles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2075687"/>
            <a:ext cx="335054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44183" y="2194559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44183" y="218541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2185415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Anita Rao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Firm Owner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16168" y="2752344"/>
            <a:ext cx="335054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44183" y="2871215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44183" y="286207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" b="1" i="0">
                <a:solidFill>
                  <a:srgbClr val="FFFFFF"/>
                </a:solidFill>
                <a:latin typeface="Segoe UI"/>
              </a:rPr>
              <a:t>PN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Priya Nair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Partner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16168" y="3429000"/>
            <a:ext cx="335054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3" y="3547872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44183" y="3538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" b="1" i="0">
                <a:solidFill>
                  <a:srgbClr val="FFFFFF"/>
                </a:solidFill>
                <a:latin typeface="Segoe UI"/>
              </a:rPr>
              <a:t>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35387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Rohan Das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Associate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6168" y="4105656"/>
            <a:ext cx="335054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44183" y="4224528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44183" y="42153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" b="1" i="0">
                <a:solidFill>
                  <a:srgbClr val="FFFFFF"/>
                </a:solidFill>
                <a:latin typeface="Segoe UI"/>
              </a:rPr>
              <a:t>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42153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Sara Khan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Paralegal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5312" y="2075687"/>
            <a:ext cx="182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Who can do what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46872" y="2148839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4A3B8"/>
                </a:solidFill>
                <a:latin typeface="Segoe UI"/>
              </a:rPr>
              <a:t>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5512" y="2148839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4A3B8"/>
                </a:solidFill>
                <a:latin typeface="Segoe UI"/>
              </a:rPr>
              <a:t>Par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44152" y="2148839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4A3B8"/>
                </a:solidFill>
                <a:latin typeface="Segoe UI"/>
              </a:rPr>
              <a:t>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5312" y="23865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View cases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46872" y="23682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5512" y="23682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4152" y="23682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95312" y="27706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Edit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46872" y="27523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5512" y="27523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4152" y="27523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5312" y="315467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Manage team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46872" y="313639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95512" y="313639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44152" y="313639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5312" y="353872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Delete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46872" y="35204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5512" y="35204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44152" y="35204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46E5"/>
                </a:solidFill>
                <a:latin typeface="Segoe UI"/>
              </a:rPr>
              <a:t>ACTIVITY LOG &amp;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 clear record of every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See who changed what and when across the firm, and keep everyone informed with in-app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Full audit trail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every important change is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Accountability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know exactly who did what, when.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In-app alerts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get notified when assigned to a matter.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Stay in the loop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tidy notification centre, mark-all-read.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lexcase.app/activity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Activity log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8" y="2176272"/>
            <a:ext cx="0" cy="1792224"/>
          </a:xfrm>
          <a:prstGeom prst="bentConnector3">
            <a:avLst/>
          </a:prstGeom>
          <a:ln w="1905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035040" y="2093976"/>
            <a:ext cx="146304" cy="14630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039112"/>
            <a:ext cx="4489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Priya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created case </a:t>
            </a:r>
            <a:r>
              <a:rPr sz="950" b="1" i="0">
                <a:solidFill>
                  <a:srgbClr val="0F172A"/>
                </a:solidFill>
                <a:latin typeface="Segoe UI"/>
              </a:rPr>
              <a:t>ACME Breach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80192" y="20391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2m</a:t>
            </a:r>
          </a:p>
        </p:txBody>
      </p:sp>
      <p:sp>
        <p:nvSpPr>
          <p:cNvPr id="37" name="Oval 36"/>
          <p:cNvSpPr/>
          <p:nvPr/>
        </p:nvSpPr>
        <p:spPr>
          <a:xfrm>
            <a:off x="6035040" y="2660904"/>
            <a:ext cx="146304" cy="146304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06040"/>
            <a:ext cx="4489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Rohan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added hearing </a:t>
            </a:r>
            <a:r>
              <a:rPr sz="950" b="1" i="0">
                <a:solidFill>
                  <a:srgbClr val="0F172A"/>
                </a:solidFill>
                <a:latin typeface="Segoe UI"/>
              </a:rPr>
              <a:t>Jun 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0192" y="2606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1h</a:t>
            </a:r>
          </a:p>
        </p:txBody>
      </p:sp>
      <p:sp>
        <p:nvSpPr>
          <p:cNvPr id="40" name="Oval 39"/>
          <p:cNvSpPr/>
          <p:nvPr/>
        </p:nvSpPr>
        <p:spPr>
          <a:xfrm>
            <a:off x="6035040" y="3227832"/>
            <a:ext cx="146304" cy="146304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172968"/>
            <a:ext cx="4489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Anita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updated client </a:t>
            </a:r>
            <a:r>
              <a:rPr sz="950" b="1" i="0">
                <a:solidFill>
                  <a:srgbClr val="0F172A"/>
                </a:solidFill>
                <a:latin typeface="Segoe UI"/>
              </a:rPr>
              <a:t>Rahul Kumar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0192" y="31729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3h</a:t>
            </a:r>
          </a:p>
        </p:txBody>
      </p:sp>
      <p:sp>
        <p:nvSpPr>
          <p:cNvPr id="43" name="Oval 42"/>
          <p:cNvSpPr/>
          <p:nvPr/>
        </p:nvSpPr>
        <p:spPr>
          <a:xfrm>
            <a:off x="6035040" y="3794759"/>
            <a:ext cx="146304" cy="14630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3739896"/>
            <a:ext cx="4489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Segoe UI"/>
              </a:rPr>
              <a:t>Sara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uploaded document </a:t>
            </a:r>
            <a:r>
              <a:rPr sz="950" b="1" i="0">
                <a:solidFill>
                  <a:srgbClr val="0F172A"/>
                </a:solidFill>
                <a:latin typeface="Segoe UI"/>
              </a:rPr>
              <a:t>Bail plea 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0192" y="37398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</a:rPr>
              <a:t>1d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16168" y="4398264"/>
            <a:ext cx="5404103" cy="640080"/>
          </a:xfrm>
          <a:prstGeom prst="roundRect">
            <a:avLst>
              <a:gd name="adj" fmla="val 11428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44183" y="454456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44183" y="45354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Emoji"/>
              </a:rPr>
              <a:t>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4517136"/>
            <a:ext cx="4489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Notifications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Segoe UI"/>
              </a:rPr>
              <a:t>You were assigned to “ACME Breach”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43032" y="4599431"/>
            <a:ext cx="409651" cy="23774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43032" y="4590288"/>
            <a:ext cx="40965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57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Emoji"/>
              </a:rP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486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PRIVACY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76809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4A3B8"/>
                </a:solidFill>
                <a:latin typeface="Segoe UI"/>
              </a:rPr>
              <a:t>FEATURE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Your firm's data stays your firm's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LexCase is multi-firm by design — every firm's records are completely separated, so data can never leak across firms.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73551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27832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Total separation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one firm can't see another's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3192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904487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Protected actions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every action is permission-checked.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902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62855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4456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Hidden IDs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records use safe, non-guessable links.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48655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221223"/>
            <a:ext cx="1645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6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Audited —  </a:t>
            </a:r>
            <a:r>
              <a:rPr sz="1250" b="0" i="0">
                <a:solidFill>
                  <a:srgbClr val="475569"/>
                </a:solidFill>
                <a:latin typeface="Segoe UI"/>
              </a:rPr>
              <a:t>a full trail backs up every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115568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1051560"/>
            <a:ext cx="580644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1051560"/>
            <a:ext cx="5806440" cy="475488"/>
          </a:xfrm>
          <a:prstGeom prst="roundRect">
            <a:avLst>
              <a:gd name="adj" fmla="val 269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1362455"/>
            <a:ext cx="5806440" cy="1645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17957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44184" y="1179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08776" y="1179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14300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129284"/>
            <a:ext cx="2743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 Emoji"/>
              </a:rPr>
              <a:t>🔒  lexcase.app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1472184"/>
            <a:ext cx="5806440" cy="0"/>
          </a:xfrm>
          <a:prstGeom prst="bentConnector3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6168" y="1618487"/>
            <a:ext cx="5404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Every firm's data stays private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16168" y="2167127"/>
            <a:ext cx="2061972" cy="2478023"/>
          </a:xfrm>
          <a:prstGeom prst="roundRect">
            <a:avLst>
              <a:gd name="adj" fmla="val 4434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2331720"/>
            <a:ext cx="20619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730A3"/>
                </a:solidFill>
                <a:latin typeface="Segoe UI"/>
              </a:rPr>
              <a:t>Firm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27157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7157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F46E5"/>
                </a:solidFill>
                <a:latin typeface="Segoe UI"/>
              </a:rPr>
              <a:t>Clients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31729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31729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F46E5"/>
                </a:solidFill>
                <a:latin typeface="Segoe UI"/>
              </a:rPr>
              <a:t>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6301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36301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F46E5"/>
                </a:solidFill>
                <a:latin typeface="Segoe UI"/>
              </a:rPr>
              <a:t>Documents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8300" y="2167127"/>
            <a:ext cx="2061972" cy="2478023"/>
          </a:xfrm>
          <a:prstGeom prst="roundRect">
            <a:avLst>
              <a:gd name="adj" fmla="val 4434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8300" y="2331720"/>
            <a:ext cx="20619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Segoe UI"/>
              </a:rPr>
              <a:t>Firm 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86900" y="27157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24060" y="27157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47857"/>
                </a:solidFill>
                <a:latin typeface="Segoe UI"/>
              </a:rPr>
              <a:t>Clients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86900" y="31729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4060" y="31729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47857"/>
                </a:solidFill>
                <a:latin typeface="Segoe UI"/>
              </a:rPr>
              <a:t>Cases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86900" y="3630168"/>
            <a:ext cx="1604772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4060" y="3630168"/>
            <a:ext cx="20619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47857"/>
                </a:solidFill>
                <a:latin typeface="Segoe UI"/>
              </a:rPr>
              <a:t>Documents</a:t>
            </a:r>
          </a:p>
        </p:txBody>
      </p:sp>
      <p:sp>
        <p:nvSpPr>
          <p:cNvPr id="49" name="Oval 48"/>
          <p:cNvSpPr/>
          <p:nvPr/>
        </p:nvSpPr>
        <p:spPr>
          <a:xfrm>
            <a:off x="8389619" y="308609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9619" y="3076955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F46E5"/>
                </a:solidFill>
                <a:latin typeface="Segoe UI Emoji"/>
              </a:rPr>
              <a:t>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16168" y="4809743"/>
            <a:ext cx="5404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A firm can never see another firm's records — guaranteed by design.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46E5"/>
                </a:solidFill>
                <a:latin typeface="Segoe UI"/>
              </a:rPr>
              <a:t>WHY LEXCASE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Segoe UI"/>
              </a:rPr>
              <a:t>Less admin, more lawyering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0848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432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Save hours every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Templates, search and AI summaries cut the repetitive work dramatically.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8288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4730" y="20848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4730" y="20756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4730" y="27432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Be better prepared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4730" y="31089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AI cross-exam questions and section suggestions help you walk in ready.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8288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3348" y="20848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348" y="20756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348" y="27432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See the whole picture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348" y="31089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Dashboard, win-rate and favorability scores show status at a glance.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41422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33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006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Work as a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663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Shared cases, clear roles and an activity trail keep everyone aligned.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8698" y="38862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24730" y="41422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4730" y="4133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4730" y="48006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Trust your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4730" y="51663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Each firm's information is isolated and access is tightly controlled.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7316" y="3886200"/>
            <a:ext cx="345429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3348" y="41422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3348" y="41330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3348" y="4800600"/>
            <a:ext cx="29422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Works anywhere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3348" y="5166360"/>
            <a:ext cx="2942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 clean, modern interface that works on desktop and mobile.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LexCase  ·  AI-Assisted Legal Case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943600" cy="5943600"/>
          </a:xfrm>
          <a:prstGeom prst="ellipse">
            <a:avLst/>
          </a:prstGeom>
          <a:solidFill>
            <a:srgbClr val="152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Emoji"/>
              </a:rP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LexCase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404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One smart workspace for the whole practice — powered by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8463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4828032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4828032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Request a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8463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E25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828032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 Emoji"/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4" y="4828032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Try the sample 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Disclaimer: AI features assist a qualified lawyer — they are not legal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